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417739-80A7-373D-509F-787DC99D8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936B424-25DC-ED75-D9A1-55F89CAB7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0C4931-5D3F-E8C5-F7D5-7E39D3BD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E46F-F27F-4928-96F3-8A337BD6E2B7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DC7731-9BD1-F5A9-1ED8-46F9F3916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2FEB5C-C332-10F7-0757-C0DC5B40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7646-A00A-4038-BA93-666F795DC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9474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2418D2-C997-991A-E050-D8EBA6BC0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F3014D-35D0-F071-9B5B-14A511B6C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33CDCC-7B1D-2489-9DC1-A3679531D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E46F-F27F-4928-96F3-8A337BD6E2B7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7034C1-EC79-A472-AE00-B9C264181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4ACA2C-F2DE-7C6D-97EA-36D61B389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7646-A00A-4038-BA93-666F795DC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0295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8E8675-F270-E31B-45D2-AE5E9C1A8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6958EE-1F45-5B02-B575-B539F4084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9869E1-9A08-8AC7-4E1C-C0590955F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E46F-F27F-4928-96F3-8A337BD6E2B7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AB11DD-55FB-5DFD-B358-2152B8A99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F78CBF-FB39-618B-5C23-A2160BDD8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7646-A00A-4038-BA93-666F795DC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3283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A97997-F2F6-438A-DA7C-583D60ED3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001404-F7E5-2A38-FA67-6142F7D478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0029DB6-0C9C-F118-6C6A-FC29A74FC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26887D7-D58B-16A3-915F-CA71950A5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E46F-F27F-4928-96F3-8A337BD6E2B7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A76F6FC-B846-DD4B-AC62-F7EEEC243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49C8E89-0607-1A88-1EA1-3EEB1D524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7646-A00A-4038-BA93-666F795DC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8497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2DF93C-854F-2110-408A-DCF2EA9FB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2D396D-B38C-B2BB-75A3-34B1DBEE2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3DE46A4-3D7C-2823-6954-1DC6D9815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C5BBBBC-E46F-4CAC-CA61-0D0138A857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E73D9D7-1643-091F-AEB9-2BDED7B4B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C6ED0A1-F299-22BE-EC91-B6E41AAF6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E46F-F27F-4928-96F3-8A337BD6E2B7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A06F18C-6FC4-0C22-5ABE-2186773E4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6A738FA-B614-6101-7E19-7D3694BD6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7646-A00A-4038-BA93-666F795DC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8935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2E1707-D176-E134-E6F0-8E9444F45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A25B32B-22F8-DFE3-2847-D831DFAC1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E46F-F27F-4928-96F3-8A337BD6E2B7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686C56F-2FBA-A3D8-7223-DE4101AEA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71F48B0-A478-1401-D06C-44EDEC603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7646-A00A-4038-BA93-666F795DC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3553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3DC6E5D-B4F0-BE1E-96F8-16FEBDAC3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E46F-F27F-4928-96F3-8A337BD6E2B7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9D946B4-5829-B64A-2F1B-29B0EC634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78242B-61D5-0B77-FCBF-5C86E2B49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7646-A00A-4038-BA93-666F795DC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94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0D78CD-3A43-0264-5B3E-BF7174CEA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E03370-CB6E-DA90-2265-9F4756B97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2CCB2D7-0427-4EC2-1768-6A5EA8B92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52F5AEB-200C-A1E0-7F8B-9FA703B83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E46F-F27F-4928-96F3-8A337BD6E2B7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D536B8-C235-2772-2665-502B08675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010B4B-F85F-5D21-BC8A-AE970BE44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7646-A00A-4038-BA93-666F795DC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5363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C2E857-EE81-6D03-55FB-7D960D584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0A3A52D-A97B-666A-405F-E8D8469DA5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3961C20-A72D-CB8E-18A7-5A8549C2D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CE65A11-7BB4-150D-49A1-CD40D506E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E46F-F27F-4928-96F3-8A337BD6E2B7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8B913C7-6A9E-63FD-4E63-EAF7FC50C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3505F9-9825-328B-3440-75BA36E38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7646-A00A-4038-BA93-666F795DC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501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535D48-BF0F-2172-693F-ABCAD524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21B3259-0C4C-1C91-3C9C-B235B849F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CC56C5-CDE6-4B72-F98E-5B0BD8C48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E46F-F27F-4928-96F3-8A337BD6E2B7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25B660-565E-3CD2-6365-640718243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64CAFB-143E-F885-81F8-35523EB94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7646-A00A-4038-BA93-666F795DC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1621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24C80BF-30F9-B9CA-54DC-3E3D374D3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AB96B35-82C6-3053-3D88-D6E2295BC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60B1C9-826D-C8E6-BFF6-CAE02CAE2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E46F-F27F-4928-96F3-8A337BD6E2B7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0EBE0E-D52D-C18C-B980-39AB427B2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CF3A44-8149-671A-3CE2-3D2D3F2A8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C7646-A00A-4038-BA93-666F795DC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06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4C916A-091D-2FBE-EE38-4236B1C47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8E9E31-25F8-66F3-796F-0634F47A1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980D18-3BEA-FD9F-FD20-7FAFE880B4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7E46F-F27F-4928-96F3-8A337BD6E2B7}" type="datetimeFigureOut">
              <a:rPr lang="fr-FR" smtClean="0"/>
              <a:t>10/05/2026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40ABB5-FB72-2310-9FF5-D86587BD5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15905D-CE51-FBEA-EF34-FA3978BD27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C7646-A00A-4038-BA93-666F795DC7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3933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7022B6-585B-018D-9E9E-69DF239F1C58}"/>
              </a:ext>
            </a:extLst>
          </p:cNvPr>
          <p:cNvSpPr/>
          <p:nvPr/>
        </p:nvSpPr>
        <p:spPr>
          <a:xfrm>
            <a:off x="0" y="0"/>
            <a:ext cx="16256000" cy="1117600"/>
          </a:xfrm>
          <a:prstGeom prst="rect">
            <a:avLst/>
          </a:prstGeom>
          <a:solidFill>
            <a:srgbClr val="1453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033F646-DE64-DE41-362F-4DD430FD9EA1}"/>
              </a:ext>
            </a:extLst>
          </p:cNvPr>
          <p:cNvSpPr txBox="1"/>
          <p:nvPr/>
        </p:nvSpPr>
        <p:spPr>
          <a:xfrm>
            <a:off x="660400" y="317500"/>
            <a:ext cx="3048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>
                <a:solidFill>
                  <a:srgbClr val="FFFFFF"/>
                </a:solidFill>
                <a:latin typeface="Aptos" panose="020B0004020202020204" pitchFamily="34" charset="0"/>
              </a:rPr>
              <a:t>WorkRH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26FB4E91-22C3-424F-AA97-57D42C5942E5}"/>
              </a:ext>
            </a:extLst>
          </p:cNvPr>
          <p:cNvSpPr/>
          <p:nvPr/>
        </p:nvSpPr>
        <p:spPr>
          <a:xfrm>
            <a:off x="12128500" y="355600"/>
            <a:ext cx="3302000" cy="381000"/>
          </a:xfrm>
          <a:prstGeom prst="roundRect">
            <a:avLst/>
          </a:prstGeom>
          <a:solidFill>
            <a:srgbClr val="E8F6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145378"/>
                </a:solidFill>
                <a:latin typeface="Aptos" panose="020B0004020202020204" pitchFamily="34" charset="0"/>
              </a:rPr>
              <a:t>DÃ©mo produit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414D427-A405-3F3D-283F-54B665B51166}"/>
              </a:ext>
            </a:extLst>
          </p:cNvPr>
          <p:cNvSpPr txBox="1"/>
          <p:nvPr/>
        </p:nvSpPr>
        <p:spPr>
          <a:xfrm>
            <a:off x="889000" y="1651000"/>
            <a:ext cx="10414000" cy="53860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3500" b="1">
                <a:solidFill>
                  <a:srgbClr val="12223A"/>
                </a:solidFill>
                <a:latin typeface="Aptos" panose="020B0004020202020204" pitchFamily="34" charset="0"/>
              </a:rPr>
              <a:t>WorkRH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B1C6C77-F679-CB32-88A7-7687CA2F38F6}"/>
              </a:ext>
            </a:extLst>
          </p:cNvPr>
          <p:cNvSpPr txBox="1"/>
          <p:nvPr/>
        </p:nvSpPr>
        <p:spPr>
          <a:xfrm>
            <a:off x="914400" y="3073400"/>
            <a:ext cx="9906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700">
                <a:solidFill>
                  <a:srgbClr val="536279"/>
                </a:solidFill>
                <a:latin typeface="Aptos" panose="020B0004020202020204" pitchFamily="34" charset="0"/>
              </a:rPr>
              <a:t>Une plateforme RH pensÃ©e pour centraliser les absences, les justificatifs, les arrÃªts maladie et le suivi des salariÃ©s frontaliers au Luxembourg.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A485E14-1352-D1BD-B772-DA4B70BA3DA9}"/>
              </a:ext>
            </a:extLst>
          </p:cNvPr>
          <p:cNvSpPr/>
          <p:nvPr/>
        </p:nvSpPr>
        <p:spPr>
          <a:xfrm>
            <a:off x="889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CA21784-94F9-1F8D-A9E9-468E469D428B}"/>
              </a:ext>
            </a:extLst>
          </p:cNvPr>
          <p:cNvSpPr txBox="1"/>
          <p:nvPr/>
        </p:nvSpPr>
        <p:spPr>
          <a:xfrm>
            <a:off x="1168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Pour les RH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8FD7B6E-807D-357B-4A9D-98D6E96A9BBA}"/>
              </a:ext>
            </a:extLst>
          </p:cNvPr>
          <p:cNvSpPr txBox="1"/>
          <p:nvPr/>
        </p:nvSpPr>
        <p:spPr>
          <a:xfrm>
            <a:off x="1168400" y="5562600"/>
            <a:ext cx="3759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Un tableau de bord unique pour suivre les demandes, repÃ©rer les dossiers incomplets et prendre une dÃ©cision rapidement.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CEAFB951-0CBA-2941-7D3F-A7D4F47D2282}"/>
              </a:ext>
            </a:extLst>
          </p:cNvPr>
          <p:cNvSpPr/>
          <p:nvPr/>
        </p:nvSpPr>
        <p:spPr>
          <a:xfrm>
            <a:off x="5715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A125D24-244A-8E58-0A4A-AAC23DADEE8D}"/>
              </a:ext>
            </a:extLst>
          </p:cNvPr>
          <p:cNvSpPr txBox="1"/>
          <p:nvPr/>
        </p:nvSpPr>
        <p:spPr>
          <a:xfrm>
            <a:off x="5994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Pour les salariÃ©s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2502A47-1BFB-D73B-AA82-5D81B2CD64AA}"/>
              </a:ext>
            </a:extLst>
          </p:cNvPr>
          <p:cNvSpPr txBox="1"/>
          <p:nvPr/>
        </p:nvSpPr>
        <p:spPr>
          <a:xfrm>
            <a:off x="5994400" y="5562600"/>
            <a:ext cx="3759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Un espace simple pour dÃ©clarer une absence, dÃ©poser un justificatif et suivre le statut de la demande.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6FCEEDF-7C80-486E-2F4B-3072585C8956}"/>
              </a:ext>
            </a:extLst>
          </p:cNvPr>
          <p:cNvSpPr/>
          <p:nvPr/>
        </p:nvSpPr>
        <p:spPr>
          <a:xfrm>
            <a:off x="10541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95B2C26-E656-A654-1A7B-0BAA7B60C874}"/>
              </a:ext>
            </a:extLst>
          </p:cNvPr>
          <p:cNvSpPr txBox="1"/>
          <p:nvPr/>
        </p:nvSpPr>
        <p:spPr>
          <a:xfrm>
            <a:off x="10820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Pour l'entreprise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B2083D7-E1BF-1FE2-EC81-2899F9234875}"/>
              </a:ext>
            </a:extLst>
          </p:cNvPr>
          <p:cNvSpPr txBox="1"/>
          <p:nvPr/>
        </p:nvSpPr>
        <p:spPr>
          <a:xfrm>
            <a:off x="10820400" y="5562600"/>
            <a:ext cx="3759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Moins d'e-mails dispersÃ©s, moins d'oublis de documents et une meilleure traÃ§abilitÃ© des dÃ©cisions RH.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BA771E-9B32-E25D-99CE-D7A58F321A27}"/>
              </a:ext>
            </a:extLst>
          </p:cNvPr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EAF0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94EAC2C-F5D1-2262-F168-129DD3B5E5F6}"/>
              </a:ext>
            </a:extLst>
          </p:cNvPr>
          <p:cNvSpPr txBox="1"/>
          <p:nvPr/>
        </p:nvSpPr>
        <p:spPr>
          <a:xfrm>
            <a:off x="889000" y="8839200"/>
            <a:ext cx="533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5F6E84"/>
                </a:solidFill>
                <a:latin typeface="Aptos" panose="020B0004020202020204" pitchFamily="34" charset="0"/>
              </a:rPr>
              <a:t>PrÃ©sentation produit - WorkRH</a:t>
            </a:r>
          </a:p>
        </p:txBody>
      </p:sp>
    </p:spTree>
    <p:extLst>
      <p:ext uri="{BB962C8B-B14F-4D97-AF65-F5344CB8AC3E}">
        <p14:creationId xmlns:p14="http://schemas.microsoft.com/office/powerpoint/2010/main" val="1244589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AAF4D0-B929-EFF1-28DF-A9C7E3E31631}"/>
              </a:ext>
            </a:extLst>
          </p:cNvPr>
          <p:cNvSpPr/>
          <p:nvPr/>
        </p:nvSpPr>
        <p:spPr>
          <a:xfrm>
            <a:off x="0" y="0"/>
            <a:ext cx="16256000" cy="1117600"/>
          </a:xfrm>
          <a:prstGeom prst="rect">
            <a:avLst/>
          </a:prstGeom>
          <a:solidFill>
            <a:srgbClr val="1453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103ACBE-262C-C5DC-E019-D930730F3BE3}"/>
              </a:ext>
            </a:extLst>
          </p:cNvPr>
          <p:cNvSpPr txBox="1"/>
          <p:nvPr/>
        </p:nvSpPr>
        <p:spPr>
          <a:xfrm>
            <a:off x="660400" y="317500"/>
            <a:ext cx="3048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>
                <a:solidFill>
                  <a:srgbClr val="FFFFFF"/>
                </a:solidFill>
                <a:latin typeface="Aptos" panose="020B0004020202020204" pitchFamily="34" charset="0"/>
              </a:rPr>
              <a:t>WorkRH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EF7F1C8A-24C1-23A1-DFD1-CB7D4561BA6A}"/>
              </a:ext>
            </a:extLst>
          </p:cNvPr>
          <p:cNvSpPr/>
          <p:nvPr/>
        </p:nvSpPr>
        <p:spPr>
          <a:xfrm>
            <a:off x="12128500" y="355600"/>
            <a:ext cx="3302000" cy="381000"/>
          </a:xfrm>
          <a:prstGeom prst="roundRect">
            <a:avLst/>
          </a:prstGeom>
          <a:solidFill>
            <a:srgbClr val="E8F6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145378"/>
                </a:solidFill>
                <a:latin typeface="Aptos" panose="020B0004020202020204" pitchFamily="34" charset="0"/>
              </a:rPr>
              <a:t>Constat terrain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D08EC0A-99C2-360F-5AF7-8055A552D93E}"/>
              </a:ext>
            </a:extLst>
          </p:cNvPr>
          <p:cNvSpPr txBox="1"/>
          <p:nvPr/>
        </p:nvSpPr>
        <p:spPr>
          <a:xfrm>
            <a:off x="889000" y="1651000"/>
            <a:ext cx="10414000" cy="107721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3500" b="1">
                <a:solidFill>
                  <a:srgbClr val="12223A"/>
                </a:solidFill>
                <a:latin typeface="Aptos" panose="020B0004020202020204" pitchFamily="34" charset="0"/>
              </a:rPr>
              <a:t>Les Ã©quipes RH perdent du temps sur des tÃ¢ches rÃ©pÃ©titives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210ED91-D638-6BFE-2C80-AF44C4AD3193}"/>
              </a:ext>
            </a:extLst>
          </p:cNvPr>
          <p:cNvSpPr txBox="1"/>
          <p:nvPr/>
        </p:nvSpPr>
        <p:spPr>
          <a:xfrm>
            <a:off x="914400" y="3073400"/>
            <a:ext cx="9906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700">
                <a:solidFill>
                  <a:srgbClr val="536279"/>
                </a:solidFill>
                <a:latin typeface="Aptos" panose="020B0004020202020204" pitchFamily="34" charset="0"/>
              </a:rPr>
              <a:t>Dans beaucoup d'entreprises, les absences et justificatifs circulent encore par e-mail, tableur ou dossier partagÃ©. Cela crÃ©e des relances manuelles et des risques d'erreur.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68A4258-0EF5-A1E9-571B-397950B5E127}"/>
              </a:ext>
            </a:extLst>
          </p:cNvPr>
          <p:cNvSpPr/>
          <p:nvPr/>
        </p:nvSpPr>
        <p:spPr>
          <a:xfrm>
            <a:off x="889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0947FE5-5107-E8AF-0F98-CD470ED01C10}"/>
              </a:ext>
            </a:extLst>
          </p:cNvPr>
          <p:cNvSpPr txBox="1"/>
          <p:nvPr/>
        </p:nvSpPr>
        <p:spPr>
          <a:xfrm>
            <a:off x="1168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Justificatifs dispersÃ©s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D18256D-2463-F127-EAAD-D59787BDA045}"/>
              </a:ext>
            </a:extLst>
          </p:cNvPr>
          <p:cNvSpPr txBox="1"/>
          <p:nvPr/>
        </p:nvSpPr>
        <p:spPr>
          <a:xfrm>
            <a:off x="1168400" y="5562600"/>
            <a:ext cx="3759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Un certificat mÃ©dical ou un document familial peut rester dans une boÃ®te mail, sans lien clair avec la demande d'absence.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DB78E48-AA98-34C3-A4E7-E4A35E54FD82}"/>
              </a:ext>
            </a:extLst>
          </p:cNvPr>
          <p:cNvSpPr/>
          <p:nvPr/>
        </p:nvSpPr>
        <p:spPr>
          <a:xfrm>
            <a:off x="5715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8D814AA-A52A-B51E-2529-BC69516B45FA}"/>
              </a:ext>
            </a:extLst>
          </p:cNvPr>
          <p:cNvSpPr txBox="1"/>
          <p:nvPr/>
        </p:nvSpPr>
        <p:spPr>
          <a:xfrm>
            <a:off x="5994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Suivi difficile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DF0DC8A-E0EA-F19B-2D33-10BDFFE79727}"/>
              </a:ext>
            </a:extLst>
          </p:cNvPr>
          <p:cNvSpPr txBox="1"/>
          <p:nvPr/>
        </p:nvSpPr>
        <p:spPr>
          <a:xfrm>
            <a:off x="5994400" y="5562600"/>
            <a:ext cx="3759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La RH doit vÃ©rifier Ã  la main qui a envoyÃ© quoi, quel dossier est complet et quelle demande peut Ãªtre validÃ©e.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25DA77D5-48EF-7236-1877-89FAE179DB7F}"/>
              </a:ext>
            </a:extLst>
          </p:cNvPr>
          <p:cNvSpPr/>
          <p:nvPr/>
        </p:nvSpPr>
        <p:spPr>
          <a:xfrm>
            <a:off x="10541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6A31D2A-7869-CC62-377F-E8924FBC64F0}"/>
              </a:ext>
            </a:extLst>
          </p:cNvPr>
          <p:cNvSpPr txBox="1"/>
          <p:nvPr/>
        </p:nvSpPr>
        <p:spPr>
          <a:xfrm>
            <a:off x="10820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Risque de validation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410238E-C8FD-615E-2078-37C680ABD7F1}"/>
              </a:ext>
            </a:extLst>
          </p:cNvPr>
          <p:cNvSpPr txBox="1"/>
          <p:nvPr/>
        </p:nvSpPr>
        <p:spPr>
          <a:xfrm>
            <a:off x="10820400" y="5562600"/>
            <a:ext cx="3759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Une absence sensible peut Ãªtre approuvÃ©e alors que le justificatif obligatoire n'a pas encore Ã©tÃ© reÃ§u.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0E01C7-BF73-283D-BB36-0F9CC0EEEB12}"/>
              </a:ext>
            </a:extLst>
          </p:cNvPr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EAF0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6D432D5-E9BB-7E14-70CC-68B015FD401C}"/>
              </a:ext>
            </a:extLst>
          </p:cNvPr>
          <p:cNvSpPr txBox="1"/>
          <p:nvPr/>
        </p:nvSpPr>
        <p:spPr>
          <a:xfrm>
            <a:off x="889000" y="8839200"/>
            <a:ext cx="533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5F6E84"/>
                </a:solidFill>
                <a:latin typeface="Aptos" panose="020B0004020202020204" pitchFamily="34" charset="0"/>
              </a:rPr>
              <a:t>PrÃ©sentation produit - WorkRH</a:t>
            </a:r>
          </a:p>
        </p:txBody>
      </p:sp>
    </p:spTree>
    <p:extLst>
      <p:ext uri="{BB962C8B-B14F-4D97-AF65-F5344CB8AC3E}">
        <p14:creationId xmlns:p14="http://schemas.microsoft.com/office/powerpoint/2010/main" val="37136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032A01-60B8-8944-845E-0D99EDB8B7A2}"/>
              </a:ext>
            </a:extLst>
          </p:cNvPr>
          <p:cNvSpPr/>
          <p:nvPr/>
        </p:nvSpPr>
        <p:spPr>
          <a:xfrm>
            <a:off x="0" y="0"/>
            <a:ext cx="16256000" cy="1117600"/>
          </a:xfrm>
          <a:prstGeom prst="rect">
            <a:avLst/>
          </a:prstGeom>
          <a:solidFill>
            <a:srgbClr val="1453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8F91FAA-2A87-40B5-9DF7-C82DDE2E74F5}"/>
              </a:ext>
            </a:extLst>
          </p:cNvPr>
          <p:cNvSpPr txBox="1"/>
          <p:nvPr/>
        </p:nvSpPr>
        <p:spPr>
          <a:xfrm>
            <a:off x="660400" y="317500"/>
            <a:ext cx="3048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>
                <a:solidFill>
                  <a:srgbClr val="FFFFFF"/>
                </a:solidFill>
                <a:latin typeface="Aptos" panose="020B0004020202020204" pitchFamily="34" charset="0"/>
              </a:rPr>
              <a:t>WorkRH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93993E0D-ED70-9B56-E9BA-956D9595CC30}"/>
              </a:ext>
            </a:extLst>
          </p:cNvPr>
          <p:cNvSpPr/>
          <p:nvPr/>
        </p:nvSpPr>
        <p:spPr>
          <a:xfrm>
            <a:off x="12128500" y="355600"/>
            <a:ext cx="3302000" cy="381000"/>
          </a:xfrm>
          <a:prstGeom prst="roundRect">
            <a:avLst/>
          </a:prstGeom>
          <a:solidFill>
            <a:srgbClr val="E8F6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145378"/>
                </a:solidFill>
                <a:latin typeface="Aptos" panose="020B0004020202020204" pitchFamily="34" charset="0"/>
              </a:rPr>
              <a:t>Parcours salariÃ©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2CBACA1-5041-848B-5337-27B7CE34B30C}"/>
              </a:ext>
            </a:extLst>
          </p:cNvPr>
          <p:cNvSpPr txBox="1"/>
          <p:nvPr/>
        </p:nvSpPr>
        <p:spPr>
          <a:xfrm>
            <a:off x="889000" y="1651000"/>
            <a:ext cx="10414000" cy="53860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3500" b="1">
                <a:solidFill>
                  <a:srgbClr val="12223A"/>
                </a:solidFill>
                <a:latin typeface="Aptos" panose="020B0004020202020204" pitchFamily="34" charset="0"/>
              </a:rPr>
              <a:t>DÃ©clarer une absence en quelques Ã©tapes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FDC4802-66FD-1497-E7E2-4FB763CD1B7B}"/>
              </a:ext>
            </a:extLst>
          </p:cNvPr>
          <p:cNvSpPr txBox="1"/>
          <p:nvPr/>
        </p:nvSpPr>
        <p:spPr>
          <a:xfrm>
            <a:off x="914400" y="3073400"/>
            <a:ext cx="9906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700">
                <a:solidFill>
                  <a:srgbClr val="536279"/>
                </a:solidFill>
                <a:latin typeface="Aptos" panose="020B0004020202020204" pitchFamily="34" charset="0"/>
              </a:rPr>
              <a:t>Le salariÃ© choisit le type d'absence, renseigne la pÃ©riode, ajoute un commentaire si nÃ©cessaire et dÃ©pose le justificatif lorsque WorkRH l'exige.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223BD92-12DE-48DA-3C31-49DDB9F2824F}"/>
              </a:ext>
            </a:extLst>
          </p:cNvPr>
          <p:cNvSpPr/>
          <p:nvPr/>
        </p:nvSpPr>
        <p:spPr>
          <a:xfrm>
            <a:off x="889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43E3D58-C331-3CBB-9B58-8264F914C00A}"/>
              </a:ext>
            </a:extLst>
          </p:cNvPr>
          <p:cNvSpPr txBox="1"/>
          <p:nvPr/>
        </p:nvSpPr>
        <p:spPr>
          <a:xfrm>
            <a:off x="1168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Absences concernÃ©es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86BF813-ABFE-5E1E-4454-FCEBBD043C5F}"/>
              </a:ext>
            </a:extLst>
          </p:cNvPr>
          <p:cNvSpPr txBox="1"/>
          <p:nvPr/>
        </p:nvSpPr>
        <p:spPr>
          <a:xfrm>
            <a:off x="1168400" y="5562600"/>
            <a:ext cx="3759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Mariage, naissance, adoption, deuil, rendez-vous mÃ©dical, formation, dÃ©marche administrative ou assistance familiale.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26CF7F5F-2521-A0E8-6C27-5C562AABD6E8}"/>
              </a:ext>
            </a:extLst>
          </p:cNvPr>
          <p:cNvSpPr/>
          <p:nvPr/>
        </p:nvSpPr>
        <p:spPr>
          <a:xfrm>
            <a:off x="5715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CE91ED2-EC58-190A-8ED1-C17EE70F0BFA}"/>
              </a:ext>
            </a:extLst>
          </p:cNvPr>
          <p:cNvSpPr txBox="1"/>
          <p:nvPr/>
        </p:nvSpPr>
        <p:spPr>
          <a:xfrm>
            <a:off x="5994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PiÃ¨ce jointe guidÃ©e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4296633-2855-4552-913B-8DB522841499}"/>
              </a:ext>
            </a:extLst>
          </p:cNvPr>
          <p:cNvSpPr txBox="1"/>
          <p:nvPr/>
        </p:nvSpPr>
        <p:spPr>
          <a:xfrm>
            <a:off x="5994400" y="5562600"/>
            <a:ext cx="3759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Le salariÃ© voit clairement si le justificatif est obligatoire et peut dÃ©poser un PDF, JPG ou PNG.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6B93FB70-AEA1-A153-8124-54A2E6946D76}"/>
              </a:ext>
            </a:extLst>
          </p:cNvPr>
          <p:cNvSpPr/>
          <p:nvPr/>
        </p:nvSpPr>
        <p:spPr>
          <a:xfrm>
            <a:off x="10541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57F8547-E847-2C0B-BF44-65B18D35461D}"/>
              </a:ext>
            </a:extLst>
          </p:cNvPr>
          <p:cNvSpPr txBox="1"/>
          <p:nvPr/>
        </p:nvSpPr>
        <p:spPr>
          <a:xfrm>
            <a:off x="10820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Statut visible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B984943-24AE-1624-F3E9-B1A1C4D3A11C}"/>
              </a:ext>
            </a:extLst>
          </p:cNvPr>
          <p:cNvSpPr txBox="1"/>
          <p:nvPr/>
        </p:nvSpPr>
        <p:spPr>
          <a:xfrm>
            <a:off x="10820400" y="5562600"/>
            <a:ext cx="3759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Une fois la demande envoyÃ©e, l'employÃ© retrouve son historique, le statut et le document rattachÃ©.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CD338D-4C62-A7B8-C5A0-EAC820C7975C}"/>
              </a:ext>
            </a:extLst>
          </p:cNvPr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EAF0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69786BF-864D-1E41-2A7C-52279F142C17}"/>
              </a:ext>
            </a:extLst>
          </p:cNvPr>
          <p:cNvSpPr txBox="1"/>
          <p:nvPr/>
        </p:nvSpPr>
        <p:spPr>
          <a:xfrm>
            <a:off x="889000" y="8839200"/>
            <a:ext cx="533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5F6E84"/>
                </a:solidFill>
                <a:latin typeface="Aptos" panose="020B0004020202020204" pitchFamily="34" charset="0"/>
              </a:rPr>
              <a:t>PrÃ©sentation produit - WorkRH</a:t>
            </a:r>
          </a:p>
        </p:txBody>
      </p:sp>
    </p:spTree>
    <p:extLst>
      <p:ext uri="{BB962C8B-B14F-4D97-AF65-F5344CB8AC3E}">
        <p14:creationId xmlns:p14="http://schemas.microsoft.com/office/powerpoint/2010/main" val="597391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B460D2-EC8A-A553-94D2-1D38999C03A9}"/>
              </a:ext>
            </a:extLst>
          </p:cNvPr>
          <p:cNvSpPr/>
          <p:nvPr/>
        </p:nvSpPr>
        <p:spPr>
          <a:xfrm>
            <a:off x="0" y="0"/>
            <a:ext cx="16256000" cy="1117600"/>
          </a:xfrm>
          <a:prstGeom prst="rect">
            <a:avLst/>
          </a:prstGeom>
          <a:solidFill>
            <a:srgbClr val="1453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12727C4-EA46-273B-5085-A1D839093186}"/>
              </a:ext>
            </a:extLst>
          </p:cNvPr>
          <p:cNvSpPr txBox="1"/>
          <p:nvPr/>
        </p:nvSpPr>
        <p:spPr>
          <a:xfrm>
            <a:off x="660400" y="317500"/>
            <a:ext cx="3048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>
                <a:solidFill>
                  <a:srgbClr val="FFFFFF"/>
                </a:solidFill>
                <a:latin typeface="Aptos" panose="020B0004020202020204" pitchFamily="34" charset="0"/>
              </a:rPr>
              <a:t>WorkRH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A472B558-E9F1-345A-1EDD-941A81FF9C6E}"/>
              </a:ext>
            </a:extLst>
          </p:cNvPr>
          <p:cNvSpPr/>
          <p:nvPr/>
        </p:nvSpPr>
        <p:spPr>
          <a:xfrm>
            <a:off x="12128500" y="355600"/>
            <a:ext cx="3302000" cy="381000"/>
          </a:xfrm>
          <a:prstGeom prst="roundRect">
            <a:avLst/>
          </a:prstGeom>
          <a:solidFill>
            <a:srgbClr val="E8F6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145378"/>
                </a:solidFill>
                <a:latin typeface="Aptos" panose="020B0004020202020204" pitchFamily="34" charset="0"/>
              </a:rPr>
              <a:t>ArrÃªts maladie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3399503-A4A1-AF0C-C162-90083C26A516}"/>
              </a:ext>
            </a:extLst>
          </p:cNvPr>
          <p:cNvSpPr txBox="1"/>
          <p:nvPr/>
        </p:nvSpPr>
        <p:spPr>
          <a:xfrm>
            <a:off x="889000" y="1651000"/>
            <a:ext cx="10414000" cy="53860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3500" b="1">
                <a:solidFill>
                  <a:srgbClr val="12223A"/>
                </a:solidFill>
                <a:latin typeface="Aptos" panose="020B0004020202020204" pitchFamily="34" charset="0"/>
              </a:rPr>
              <a:t>Le justificatif mÃ©dical est intÃ©grÃ© au workflow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AFFDC66-3854-516C-1D1C-CC993CBA4247}"/>
              </a:ext>
            </a:extLst>
          </p:cNvPr>
          <p:cNvSpPr txBox="1"/>
          <p:nvPr/>
        </p:nvSpPr>
        <p:spPr>
          <a:xfrm>
            <a:off x="914400" y="3073400"/>
            <a:ext cx="9906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700">
                <a:solidFill>
                  <a:srgbClr val="536279"/>
                </a:solidFill>
                <a:latin typeface="Aptos" panose="020B0004020202020204" pitchFamily="34" charset="0"/>
              </a:rPr>
              <a:t>Pour une absence maladie, WorkRH demande directement le justificatif mÃ©dical au moment de la dÃ©claration afin que le dossier arrive complet cÃ´tÃ© RH.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1A9BAC3-EE43-BADC-F2AB-A04B5D77C1FD}"/>
              </a:ext>
            </a:extLst>
          </p:cNvPr>
          <p:cNvSpPr/>
          <p:nvPr/>
        </p:nvSpPr>
        <p:spPr>
          <a:xfrm>
            <a:off x="889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F1BA10A-1AC2-E0F8-93CB-1F921583FADB}"/>
              </a:ext>
            </a:extLst>
          </p:cNvPr>
          <p:cNvSpPr txBox="1"/>
          <p:nvPr/>
        </p:nvSpPr>
        <p:spPr>
          <a:xfrm>
            <a:off x="1168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DÃ©claration simple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8BAD3BC-A028-64AE-0D53-3C727A789CF1}"/>
              </a:ext>
            </a:extLst>
          </p:cNvPr>
          <p:cNvSpPr txBox="1"/>
          <p:nvPr/>
        </p:nvSpPr>
        <p:spPr>
          <a:xfrm>
            <a:off x="1168400" y="5562600"/>
            <a:ext cx="3759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Le salariÃ© indique la date de dÃ©but, la date de fin et ajoute son certificat ou son document mÃ©dical.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0C5599C-86DB-1F49-6C76-B9482D26D39D}"/>
              </a:ext>
            </a:extLst>
          </p:cNvPr>
          <p:cNvSpPr/>
          <p:nvPr/>
        </p:nvSpPr>
        <p:spPr>
          <a:xfrm>
            <a:off x="5715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D1491DB-530B-DC5C-5981-A04DED2FAFC9}"/>
              </a:ext>
            </a:extLst>
          </p:cNvPr>
          <p:cNvSpPr txBox="1"/>
          <p:nvPr/>
        </p:nvSpPr>
        <p:spPr>
          <a:xfrm>
            <a:off x="5994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Historique salariÃ©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DD92F04-4887-3325-650E-F40A81DE9E79}"/>
              </a:ext>
            </a:extLst>
          </p:cNvPr>
          <p:cNvSpPr txBox="1"/>
          <p:nvPr/>
        </p:nvSpPr>
        <p:spPr>
          <a:xfrm>
            <a:off x="5994400" y="5562600"/>
            <a:ext cx="3759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Le justificatif peut Ãªtre consultÃ©, remplacÃ© ou ajoutÃ© depuis l'espace personnel.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6C179C3-E433-B4A8-EF47-151706B991AB}"/>
              </a:ext>
            </a:extLst>
          </p:cNvPr>
          <p:cNvSpPr/>
          <p:nvPr/>
        </p:nvSpPr>
        <p:spPr>
          <a:xfrm>
            <a:off x="10541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59CBBF3-3BBA-7867-3797-7BC5F1FCD177}"/>
              </a:ext>
            </a:extLst>
          </p:cNvPr>
          <p:cNvSpPr txBox="1"/>
          <p:nvPr/>
        </p:nvSpPr>
        <p:spPr>
          <a:xfrm>
            <a:off x="10820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Vue RH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3C1C23C-8D61-CDB0-3306-A4A98D03C133}"/>
              </a:ext>
            </a:extLst>
          </p:cNvPr>
          <p:cNvSpPr txBox="1"/>
          <p:nvPr/>
        </p:nvSpPr>
        <p:spPr>
          <a:xfrm>
            <a:off x="10820400" y="5562600"/>
            <a:ext cx="3759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La RH voit immÃ©diatement si le justificatif est prÃ©sent ou manquant et peut le tÃ©lÃ©charger depuis le tableau.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5BDBD0-3295-DB49-F581-E119B3054F1F}"/>
              </a:ext>
            </a:extLst>
          </p:cNvPr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EAF0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BADC698-5A76-4C03-BB53-C68B9823BD74}"/>
              </a:ext>
            </a:extLst>
          </p:cNvPr>
          <p:cNvSpPr txBox="1"/>
          <p:nvPr/>
        </p:nvSpPr>
        <p:spPr>
          <a:xfrm>
            <a:off x="889000" y="8839200"/>
            <a:ext cx="533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5F6E84"/>
                </a:solidFill>
                <a:latin typeface="Aptos" panose="020B0004020202020204" pitchFamily="34" charset="0"/>
              </a:rPr>
              <a:t>PrÃ©sentation produit - WorkRH</a:t>
            </a:r>
          </a:p>
        </p:txBody>
      </p:sp>
    </p:spTree>
    <p:extLst>
      <p:ext uri="{BB962C8B-B14F-4D97-AF65-F5344CB8AC3E}">
        <p14:creationId xmlns:p14="http://schemas.microsoft.com/office/powerpoint/2010/main" val="4806095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FFEE67-3C12-9BFE-006F-10897A8464BF}"/>
              </a:ext>
            </a:extLst>
          </p:cNvPr>
          <p:cNvSpPr/>
          <p:nvPr/>
        </p:nvSpPr>
        <p:spPr>
          <a:xfrm>
            <a:off x="0" y="0"/>
            <a:ext cx="16256000" cy="1117600"/>
          </a:xfrm>
          <a:prstGeom prst="rect">
            <a:avLst/>
          </a:prstGeom>
          <a:solidFill>
            <a:srgbClr val="1453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162CDBB-91F4-E20A-D86C-89B8F834D707}"/>
              </a:ext>
            </a:extLst>
          </p:cNvPr>
          <p:cNvSpPr txBox="1"/>
          <p:nvPr/>
        </p:nvSpPr>
        <p:spPr>
          <a:xfrm>
            <a:off x="660400" y="317500"/>
            <a:ext cx="3048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>
                <a:solidFill>
                  <a:srgbClr val="FFFFFF"/>
                </a:solidFill>
                <a:latin typeface="Aptos" panose="020B0004020202020204" pitchFamily="34" charset="0"/>
              </a:rPr>
              <a:t>WorkRH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6EBA1BB2-699E-F195-8101-9A6562AE6B38}"/>
              </a:ext>
            </a:extLst>
          </p:cNvPr>
          <p:cNvSpPr/>
          <p:nvPr/>
        </p:nvSpPr>
        <p:spPr>
          <a:xfrm>
            <a:off x="12128500" y="355600"/>
            <a:ext cx="3302000" cy="381000"/>
          </a:xfrm>
          <a:prstGeom prst="roundRect">
            <a:avLst/>
          </a:prstGeom>
          <a:solidFill>
            <a:srgbClr val="E8F6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145378"/>
                </a:solidFill>
                <a:latin typeface="Aptos" panose="020B0004020202020204" pitchFamily="34" charset="0"/>
              </a:rPr>
              <a:t>Vue RH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653C193-64C4-4DFD-BD79-69699073DCDB}"/>
              </a:ext>
            </a:extLst>
          </p:cNvPr>
          <p:cNvSpPr txBox="1"/>
          <p:nvPr/>
        </p:nvSpPr>
        <p:spPr>
          <a:xfrm>
            <a:off x="889000" y="1651000"/>
            <a:ext cx="10414000" cy="53860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3500" b="1">
                <a:solidFill>
                  <a:srgbClr val="12223A"/>
                </a:solidFill>
                <a:latin typeface="Aptos" panose="020B0004020202020204" pitchFamily="34" charset="0"/>
              </a:rPr>
              <a:t>Un tableau de validation clair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6407817-9567-CD8A-5D84-9544197029BB}"/>
              </a:ext>
            </a:extLst>
          </p:cNvPr>
          <p:cNvSpPr txBox="1"/>
          <p:nvPr/>
        </p:nvSpPr>
        <p:spPr>
          <a:xfrm>
            <a:off x="914400" y="3073400"/>
            <a:ext cx="9906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700">
                <a:solidFill>
                  <a:srgbClr val="536279"/>
                </a:solidFill>
                <a:latin typeface="Aptos" panose="020B0004020202020204" pitchFamily="34" charset="0"/>
              </a:rPr>
              <a:t>CÃ´tÃ© RH, chaque demande affiche le salariÃ©, le type d'absence, la pÃ©riode, le statut, le commentaire et l'Ã©tat du justificatif.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52445A4-144C-0D9F-674D-5FE7D995C24E}"/>
              </a:ext>
            </a:extLst>
          </p:cNvPr>
          <p:cNvSpPr/>
          <p:nvPr/>
        </p:nvSpPr>
        <p:spPr>
          <a:xfrm>
            <a:off x="889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7D3A54F-2BC7-5483-02A0-932120A33A08}"/>
              </a:ext>
            </a:extLst>
          </p:cNvPr>
          <p:cNvSpPr txBox="1"/>
          <p:nvPr/>
        </p:nvSpPr>
        <p:spPr>
          <a:xfrm>
            <a:off x="1168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Dossier complet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235783C-C120-9327-D955-F99025F1D814}"/>
              </a:ext>
            </a:extLst>
          </p:cNvPr>
          <p:cNvSpPr txBox="1"/>
          <p:nvPr/>
        </p:nvSpPr>
        <p:spPr>
          <a:xfrm>
            <a:off x="1168400" y="5562600"/>
            <a:ext cx="3759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Si le justificatif est prÃ©sent, la RH peut le tÃ©lÃ©charger directement depuis la ligne de la demande.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B6A9746-2634-1693-C1E8-215F95EDC910}"/>
              </a:ext>
            </a:extLst>
          </p:cNvPr>
          <p:cNvSpPr/>
          <p:nvPr/>
        </p:nvSpPr>
        <p:spPr>
          <a:xfrm>
            <a:off x="5715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FA8B93A-BBC4-799A-5A48-20354739E3A0}"/>
              </a:ext>
            </a:extLst>
          </p:cNvPr>
          <p:cNvSpPr txBox="1"/>
          <p:nvPr/>
        </p:nvSpPr>
        <p:spPr>
          <a:xfrm>
            <a:off x="5994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Dossier incomplet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92A6F32-EEAC-0261-C0A7-BD0734020D2A}"/>
              </a:ext>
            </a:extLst>
          </p:cNvPr>
          <p:cNvSpPr txBox="1"/>
          <p:nvPr/>
        </p:nvSpPr>
        <p:spPr>
          <a:xfrm>
            <a:off x="5994400" y="5562600"/>
            <a:ext cx="3759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Si le justificatif manque, WorkRH affiche un statut clair pour Ã©viter les validations prÃ©maturÃ©es.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6F4076B1-22D6-CADE-11DB-BB05A19EE7AF}"/>
              </a:ext>
            </a:extLst>
          </p:cNvPr>
          <p:cNvSpPr/>
          <p:nvPr/>
        </p:nvSpPr>
        <p:spPr>
          <a:xfrm>
            <a:off x="10541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D4C0750-A268-0076-2E6D-C2FEAEEDD1BF}"/>
              </a:ext>
            </a:extLst>
          </p:cNvPr>
          <p:cNvSpPr txBox="1"/>
          <p:nvPr/>
        </p:nvSpPr>
        <p:spPr>
          <a:xfrm>
            <a:off x="10820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DÃ©cision sÃ©curisÃ©e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A0517CF-66A6-DA06-EE36-591768238530}"/>
              </a:ext>
            </a:extLst>
          </p:cNvPr>
          <p:cNvSpPr txBox="1"/>
          <p:nvPr/>
        </p:nvSpPr>
        <p:spPr>
          <a:xfrm>
            <a:off x="10820400" y="5562600"/>
            <a:ext cx="3759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Pour les absences qui l'exigent, l'approbation est bloquÃ©e tant que le justificatif n'est pas dÃ©posÃ©.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8F4E13-2726-3FBB-CD2F-1B26EA3F87D3}"/>
              </a:ext>
            </a:extLst>
          </p:cNvPr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EAF0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6415530-F178-F7FA-3280-9662E5EC3845}"/>
              </a:ext>
            </a:extLst>
          </p:cNvPr>
          <p:cNvSpPr txBox="1"/>
          <p:nvPr/>
        </p:nvSpPr>
        <p:spPr>
          <a:xfrm>
            <a:off x="889000" y="8839200"/>
            <a:ext cx="533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5F6E84"/>
                </a:solidFill>
                <a:latin typeface="Aptos" panose="020B0004020202020204" pitchFamily="34" charset="0"/>
              </a:rPr>
              <a:t>PrÃ©sentation produit - WorkRH</a:t>
            </a:r>
          </a:p>
        </p:txBody>
      </p:sp>
    </p:spTree>
    <p:extLst>
      <p:ext uri="{BB962C8B-B14F-4D97-AF65-F5344CB8AC3E}">
        <p14:creationId xmlns:p14="http://schemas.microsoft.com/office/powerpoint/2010/main" val="993318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BD2A68-F772-41F7-4593-41E0833BDBFC}"/>
              </a:ext>
            </a:extLst>
          </p:cNvPr>
          <p:cNvSpPr/>
          <p:nvPr/>
        </p:nvSpPr>
        <p:spPr>
          <a:xfrm>
            <a:off x="0" y="0"/>
            <a:ext cx="16256000" cy="1117600"/>
          </a:xfrm>
          <a:prstGeom prst="rect">
            <a:avLst/>
          </a:prstGeom>
          <a:solidFill>
            <a:srgbClr val="1453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C3577EB-5992-21ED-6957-384A6BB41FDD}"/>
              </a:ext>
            </a:extLst>
          </p:cNvPr>
          <p:cNvSpPr txBox="1"/>
          <p:nvPr/>
        </p:nvSpPr>
        <p:spPr>
          <a:xfrm>
            <a:off x="660400" y="317500"/>
            <a:ext cx="3048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>
                <a:solidFill>
                  <a:srgbClr val="FFFFFF"/>
                </a:solidFill>
                <a:latin typeface="Aptos" panose="020B0004020202020204" pitchFamily="34" charset="0"/>
              </a:rPr>
              <a:t>WorkRH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60E784E6-D823-3C35-40CC-035CBD133E21}"/>
              </a:ext>
            </a:extLst>
          </p:cNvPr>
          <p:cNvSpPr/>
          <p:nvPr/>
        </p:nvSpPr>
        <p:spPr>
          <a:xfrm>
            <a:off x="12128500" y="355600"/>
            <a:ext cx="3302000" cy="381000"/>
          </a:xfrm>
          <a:prstGeom prst="roundRect">
            <a:avLst/>
          </a:prstGeom>
          <a:solidFill>
            <a:srgbClr val="E8F6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145378"/>
                </a:solidFill>
                <a:latin typeface="Aptos" panose="020B0004020202020204" pitchFamily="34" charset="0"/>
              </a:rPr>
              <a:t>Frontaliers Luxembourg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9ECC41E-E6A8-BB0E-92A2-F555A3513D6D}"/>
              </a:ext>
            </a:extLst>
          </p:cNvPr>
          <p:cNvSpPr txBox="1"/>
          <p:nvPr/>
        </p:nvSpPr>
        <p:spPr>
          <a:xfrm>
            <a:off x="889000" y="1651000"/>
            <a:ext cx="10414000" cy="53860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3500" b="1">
                <a:solidFill>
                  <a:srgbClr val="12223A"/>
                </a:solidFill>
                <a:latin typeface="Aptos" panose="020B0004020202020204" pitchFamily="34" charset="0"/>
              </a:rPr>
              <a:t>Suivre le tÃ©lÃ©travail et les seuils sensibles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1A3439F-E7C4-9E4B-7B3D-47EF22ADFE13}"/>
              </a:ext>
            </a:extLst>
          </p:cNvPr>
          <p:cNvSpPr txBox="1"/>
          <p:nvPr/>
        </p:nvSpPr>
        <p:spPr>
          <a:xfrm>
            <a:off x="914400" y="3073400"/>
            <a:ext cx="9906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700">
                <a:solidFill>
                  <a:srgbClr val="536279"/>
                </a:solidFill>
                <a:latin typeface="Aptos" panose="020B0004020202020204" pitchFamily="34" charset="0"/>
              </a:rPr>
              <a:t>WorkRH aide aussi les Ã©quipes RH Ã  suivre les jours travaillÃ©s hors Luxembourg, un sujet important pour les salariÃ©s frontaliers.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1A7D06E-A88F-52F4-923F-E1B0EB7C9E48}"/>
              </a:ext>
            </a:extLst>
          </p:cNvPr>
          <p:cNvSpPr/>
          <p:nvPr/>
        </p:nvSpPr>
        <p:spPr>
          <a:xfrm>
            <a:off x="889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94796F7-344D-5B26-7899-918EC9616169}"/>
              </a:ext>
            </a:extLst>
          </p:cNvPr>
          <p:cNvSpPr txBox="1"/>
          <p:nvPr/>
        </p:nvSpPr>
        <p:spPr>
          <a:xfrm>
            <a:off x="1168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DÃ©clarations structurÃ©es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1C2843C-9549-EE28-B0A3-4062AC5A2B63}"/>
              </a:ext>
            </a:extLst>
          </p:cNvPr>
          <p:cNvSpPr txBox="1"/>
          <p:nvPr/>
        </p:nvSpPr>
        <p:spPr>
          <a:xfrm>
            <a:off x="1168400" y="5562600"/>
            <a:ext cx="3759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Pays, date, minutes travaillÃ©es, tÃ©lÃ©travail Ã  rÃ©sidence ou activitÃ© dans un autre pays.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5C9DD6B-8288-8F15-1272-9BB8F784E219}"/>
              </a:ext>
            </a:extLst>
          </p:cNvPr>
          <p:cNvSpPr/>
          <p:nvPr/>
        </p:nvSpPr>
        <p:spPr>
          <a:xfrm>
            <a:off x="5715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0BE29C4-1199-D76D-1940-EA2F1C781ABD}"/>
              </a:ext>
            </a:extLst>
          </p:cNvPr>
          <p:cNvSpPr txBox="1"/>
          <p:nvPr/>
        </p:nvSpPr>
        <p:spPr>
          <a:xfrm>
            <a:off x="5994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Alertes et seuils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6ED4F44-9B59-70B0-A6BF-C6D7300D23E2}"/>
              </a:ext>
            </a:extLst>
          </p:cNvPr>
          <p:cNvSpPr txBox="1"/>
          <p:nvPr/>
        </p:nvSpPr>
        <p:spPr>
          <a:xfrm>
            <a:off x="5994400" y="5562600"/>
            <a:ext cx="3759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Le tableau RH met en Ã©vidence les situations qui demandent une attention particuliÃ¨re.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47825549-65DB-0BE7-0D3B-54C37220BE00}"/>
              </a:ext>
            </a:extLst>
          </p:cNvPr>
          <p:cNvSpPr/>
          <p:nvPr/>
        </p:nvSpPr>
        <p:spPr>
          <a:xfrm>
            <a:off x="10541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2CE6937-F493-CBAC-1305-41B057E05CEC}"/>
              </a:ext>
            </a:extLst>
          </p:cNvPr>
          <p:cNvSpPr txBox="1"/>
          <p:nvPr/>
        </p:nvSpPr>
        <p:spPr>
          <a:xfrm>
            <a:off x="10820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TraÃ§abilitÃ©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EACD310-45E3-FC22-7115-E2AD425F32B5}"/>
              </a:ext>
            </a:extLst>
          </p:cNvPr>
          <p:cNvSpPr txBox="1"/>
          <p:nvPr/>
        </p:nvSpPr>
        <p:spPr>
          <a:xfrm>
            <a:off x="10820400" y="5562600"/>
            <a:ext cx="3759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Les historiques facilitent les contrÃ´les internes, les Ã©changes avec la paie et la prÃ©paration des dossiers.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BE8A76-75CA-7DCE-50A5-F4445069B9CA}"/>
              </a:ext>
            </a:extLst>
          </p:cNvPr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EAF0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DF38D41-9577-C0FF-EBA4-93D54C51AB7E}"/>
              </a:ext>
            </a:extLst>
          </p:cNvPr>
          <p:cNvSpPr txBox="1"/>
          <p:nvPr/>
        </p:nvSpPr>
        <p:spPr>
          <a:xfrm>
            <a:off x="889000" y="8839200"/>
            <a:ext cx="533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5F6E84"/>
                </a:solidFill>
                <a:latin typeface="Aptos" panose="020B0004020202020204" pitchFamily="34" charset="0"/>
              </a:rPr>
              <a:t>PrÃ©sentation produit - WorkRH</a:t>
            </a:r>
          </a:p>
        </p:txBody>
      </p:sp>
    </p:spTree>
    <p:extLst>
      <p:ext uri="{BB962C8B-B14F-4D97-AF65-F5344CB8AC3E}">
        <p14:creationId xmlns:p14="http://schemas.microsoft.com/office/powerpoint/2010/main" val="2401753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501FCF-C3E6-78EC-5B8C-B267FE5B03AC}"/>
              </a:ext>
            </a:extLst>
          </p:cNvPr>
          <p:cNvSpPr/>
          <p:nvPr/>
        </p:nvSpPr>
        <p:spPr>
          <a:xfrm>
            <a:off x="0" y="0"/>
            <a:ext cx="16256000" cy="1117600"/>
          </a:xfrm>
          <a:prstGeom prst="rect">
            <a:avLst/>
          </a:prstGeom>
          <a:solidFill>
            <a:srgbClr val="1453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DB5D94E-34C6-E2E5-CE5B-6211141282AF}"/>
              </a:ext>
            </a:extLst>
          </p:cNvPr>
          <p:cNvSpPr txBox="1"/>
          <p:nvPr/>
        </p:nvSpPr>
        <p:spPr>
          <a:xfrm>
            <a:off x="660400" y="317500"/>
            <a:ext cx="3048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>
                <a:solidFill>
                  <a:srgbClr val="FFFFFF"/>
                </a:solidFill>
                <a:latin typeface="Aptos" panose="020B0004020202020204" pitchFamily="34" charset="0"/>
              </a:rPr>
              <a:t>WorkRH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E63638A3-DC17-4BE5-8B88-01C4BFB18610}"/>
              </a:ext>
            </a:extLst>
          </p:cNvPr>
          <p:cNvSpPr/>
          <p:nvPr/>
        </p:nvSpPr>
        <p:spPr>
          <a:xfrm>
            <a:off x="12128500" y="355600"/>
            <a:ext cx="3302000" cy="381000"/>
          </a:xfrm>
          <a:prstGeom prst="roundRect">
            <a:avLst/>
          </a:prstGeom>
          <a:solidFill>
            <a:srgbClr val="E8F6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145378"/>
                </a:solidFill>
                <a:latin typeface="Aptos" panose="020B0004020202020204" pitchFamily="34" charset="0"/>
              </a:rPr>
              <a:t>BÃ©nÃ©fices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61E1E2-AC12-D6EB-FD70-63373825DF37}"/>
              </a:ext>
            </a:extLst>
          </p:cNvPr>
          <p:cNvSpPr txBox="1"/>
          <p:nvPr/>
        </p:nvSpPr>
        <p:spPr>
          <a:xfrm>
            <a:off x="889000" y="1651000"/>
            <a:ext cx="10414000" cy="53860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3500" b="1">
                <a:solidFill>
                  <a:srgbClr val="12223A"/>
                </a:solidFill>
                <a:latin typeface="Aptos" panose="020B0004020202020204" pitchFamily="34" charset="0"/>
              </a:rPr>
              <a:t>Moins d'e-mails, moins d'oublis, plus de visibilitÃ©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35E4551-C1C9-D174-130B-62C0D8F7FF8B}"/>
              </a:ext>
            </a:extLst>
          </p:cNvPr>
          <p:cNvSpPr txBox="1"/>
          <p:nvPr/>
        </p:nvSpPr>
        <p:spPr>
          <a:xfrm>
            <a:off x="914400" y="3073400"/>
            <a:ext cx="9906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700">
                <a:solidFill>
                  <a:srgbClr val="536279"/>
                </a:solidFill>
                <a:latin typeface="Aptos" panose="020B0004020202020204" pitchFamily="34" charset="0"/>
              </a:rPr>
              <a:t>WorkRH ne cherche pas Ã  remplacer toute la fonction RH. Le produit sÃ©curise les workflows quotidiens qui crÃ©ent le plus de friction.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3D5111B-9DD1-1BF5-7704-829DC75C0A05}"/>
              </a:ext>
            </a:extLst>
          </p:cNvPr>
          <p:cNvSpPr/>
          <p:nvPr/>
        </p:nvSpPr>
        <p:spPr>
          <a:xfrm>
            <a:off x="889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6FD35A3-0A94-4CA6-4E41-4F3E13250D02}"/>
              </a:ext>
            </a:extLst>
          </p:cNvPr>
          <p:cNvSpPr txBox="1"/>
          <p:nvPr/>
        </p:nvSpPr>
        <p:spPr>
          <a:xfrm>
            <a:off x="1168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Gain de temps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031B702-0750-4145-B820-BE32604D5B74}"/>
              </a:ext>
            </a:extLst>
          </p:cNvPr>
          <p:cNvSpPr txBox="1"/>
          <p:nvPr/>
        </p:nvSpPr>
        <p:spPr>
          <a:xfrm>
            <a:off x="1168400" y="5562600"/>
            <a:ext cx="3759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RÃ©duction des relances manuelles et des recherches de documents dans les e-mails.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607DEBD0-486B-DF20-99EC-61455F0971B7}"/>
              </a:ext>
            </a:extLst>
          </p:cNvPr>
          <p:cNvSpPr/>
          <p:nvPr/>
        </p:nvSpPr>
        <p:spPr>
          <a:xfrm>
            <a:off x="5715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8349D9B-374F-9FF0-E07A-21B9F4E48AC1}"/>
              </a:ext>
            </a:extLst>
          </p:cNvPr>
          <p:cNvSpPr txBox="1"/>
          <p:nvPr/>
        </p:nvSpPr>
        <p:spPr>
          <a:xfrm>
            <a:off x="5994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Meilleur contrÃ´le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32AB085-F555-146E-1DAA-2F317121A1D2}"/>
              </a:ext>
            </a:extLst>
          </p:cNvPr>
          <p:cNvSpPr txBox="1"/>
          <p:nvPr/>
        </p:nvSpPr>
        <p:spPr>
          <a:xfrm>
            <a:off x="5994400" y="5562600"/>
            <a:ext cx="3759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Les dossiers incomplets sont visibles immÃ©diatement, avant validation.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6D38B053-8767-AD3D-E50C-FF5EDB446AC3}"/>
              </a:ext>
            </a:extLst>
          </p:cNvPr>
          <p:cNvSpPr/>
          <p:nvPr/>
        </p:nvSpPr>
        <p:spPr>
          <a:xfrm>
            <a:off x="10541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3E237F6-D553-108F-A28B-0D0710183DEA}"/>
              </a:ext>
            </a:extLst>
          </p:cNvPr>
          <p:cNvSpPr txBox="1"/>
          <p:nvPr/>
        </p:nvSpPr>
        <p:spPr>
          <a:xfrm>
            <a:off x="10820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ExpÃ©rience simple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0650E53-EC49-6827-F236-5236AD860AF8}"/>
              </a:ext>
            </a:extLst>
          </p:cNvPr>
          <p:cNvSpPr txBox="1"/>
          <p:nvPr/>
        </p:nvSpPr>
        <p:spPr>
          <a:xfrm>
            <a:off x="10820400" y="5562600"/>
            <a:ext cx="3759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Les salariÃ©s disposent d'un espace clair et les RH gardent une vue consolidÃ©e.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158BB0-3445-D16B-FF85-22D9729410B5}"/>
              </a:ext>
            </a:extLst>
          </p:cNvPr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EAF0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13D8C0E-1F95-6110-056E-A32780F3B083}"/>
              </a:ext>
            </a:extLst>
          </p:cNvPr>
          <p:cNvSpPr txBox="1"/>
          <p:nvPr/>
        </p:nvSpPr>
        <p:spPr>
          <a:xfrm>
            <a:off x="889000" y="8839200"/>
            <a:ext cx="533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5F6E84"/>
                </a:solidFill>
                <a:latin typeface="Aptos" panose="020B0004020202020204" pitchFamily="34" charset="0"/>
              </a:rPr>
              <a:t>PrÃ©sentation produit - WorkRH</a:t>
            </a:r>
          </a:p>
        </p:txBody>
      </p:sp>
    </p:spTree>
    <p:extLst>
      <p:ext uri="{BB962C8B-B14F-4D97-AF65-F5344CB8AC3E}">
        <p14:creationId xmlns:p14="http://schemas.microsoft.com/office/powerpoint/2010/main" val="3275927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DD5682-D45C-08F0-A861-93A6FFC0C121}"/>
              </a:ext>
            </a:extLst>
          </p:cNvPr>
          <p:cNvSpPr/>
          <p:nvPr/>
        </p:nvSpPr>
        <p:spPr>
          <a:xfrm>
            <a:off x="0" y="0"/>
            <a:ext cx="16256000" cy="1117600"/>
          </a:xfrm>
          <a:prstGeom prst="rect">
            <a:avLst/>
          </a:prstGeom>
          <a:solidFill>
            <a:srgbClr val="1453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662B712-D481-41E1-AF27-E6BF79C2C7D8}"/>
              </a:ext>
            </a:extLst>
          </p:cNvPr>
          <p:cNvSpPr txBox="1"/>
          <p:nvPr/>
        </p:nvSpPr>
        <p:spPr>
          <a:xfrm>
            <a:off x="660400" y="317500"/>
            <a:ext cx="3048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>
                <a:solidFill>
                  <a:srgbClr val="FFFFFF"/>
                </a:solidFill>
                <a:latin typeface="Aptos" panose="020B0004020202020204" pitchFamily="34" charset="0"/>
              </a:rPr>
              <a:t>WorkRH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4613A001-7571-BDF0-3757-C444B4C8886D}"/>
              </a:ext>
            </a:extLst>
          </p:cNvPr>
          <p:cNvSpPr/>
          <p:nvPr/>
        </p:nvSpPr>
        <p:spPr>
          <a:xfrm>
            <a:off x="12128500" y="355600"/>
            <a:ext cx="3302000" cy="381000"/>
          </a:xfrm>
          <a:prstGeom prst="roundRect">
            <a:avLst/>
          </a:prstGeom>
          <a:solidFill>
            <a:srgbClr val="E8F6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145378"/>
                </a:solidFill>
                <a:latin typeface="Aptos" panose="020B0004020202020204" pitchFamily="34" charset="0"/>
              </a:rPr>
              <a:t>Mise en place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7192145-D0C2-087D-F215-7663B6950159}"/>
              </a:ext>
            </a:extLst>
          </p:cNvPr>
          <p:cNvSpPr txBox="1"/>
          <p:nvPr/>
        </p:nvSpPr>
        <p:spPr>
          <a:xfrm>
            <a:off x="889000" y="1651000"/>
            <a:ext cx="10414000" cy="53860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3500" b="1">
                <a:solidFill>
                  <a:srgbClr val="12223A"/>
                </a:solidFill>
                <a:latin typeface="Aptos" panose="020B0004020202020204" pitchFamily="34" charset="0"/>
              </a:rPr>
              <a:t>Un onboarding progressif pour limiter le risque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06172C4-9810-086A-CB1E-08321817744D}"/>
              </a:ext>
            </a:extLst>
          </p:cNvPr>
          <p:cNvSpPr txBox="1"/>
          <p:nvPr/>
        </p:nvSpPr>
        <p:spPr>
          <a:xfrm>
            <a:off x="914400" y="3073400"/>
            <a:ext cx="9906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700">
                <a:solidFill>
                  <a:srgbClr val="536279"/>
                </a:solidFill>
                <a:latin typeface="Aptos" panose="020B0004020202020204" pitchFamily="34" charset="0"/>
              </a:rPr>
              <a:t>Le dÃ©ploiement peut commencer avec une Ã©quipe pilote, quelques salariÃ©s et les cas RH les plus frÃ©quents.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6E0E4A3-50CA-B4F1-FBE2-712A5C8B9055}"/>
              </a:ext>
            </a:extLst>
          </p:cNvPr>
          <p:cNvSpPr/>
          <p:nvPr/>
        </p:nvSpPr>
        <p:spPr>
          <a:xfrm>
            <a:off x="889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BCF43C1-B827-F6D4-4B3A-69A8E29C93E0}"/>
              </a:ext>
            </a:extLst>
          </p:cNvPr>
          <p:cNvSpPr txBox="1"/>
          <p:nvPr/>
        </p:nvSpPr>
        <p:spPr>
          <a:xfrm>
            <a:off x="1168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1. Cadrage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C2BF2ED-58E5-0D4B-619E-D7BCD8341A5D}"/>
              </a:ext>
            </a:extLst>
          </p:cNvPr>
          <p:cNvSpPr txBox="1"/>
          <p:nvPr/>
        </p:nvSpPr>
        <p:spPr>
          <a:xfrm>
            <a:off x="1168400" y="5562600"/>
            <a:ext cx="3759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Identifier les types d'absence, les justificatifs obligatoires, les rÃ´les RH et les salariÃ©s pilotes.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D5FC5B0-B7FB-18DB-421C-137481F51F19}"/>
              </a:ext>
            </a:extLst>
          </p:cNvPr>
          <p:cNvSpPr/>
          <p:nvPr/>
        </p:nvSpPr>
        <p:spPr>
          <a:xfrm>
            <a:off x="5715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0D7F458-B079-2C95-5E82-072F5A477E32}"/>
              </a:ext>
            </a:extLst>
          </p:cNvPr>
          <p:cNvSpPr txBox="1"/>
          <p:nvPr/>
        </p:nvSpPr>
        <p:spPr>
          <a:xfrm>
            <a:off x="5994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2. ParamÃ©trage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8A6F31D-0796-3E33-504F-7FE4906C2101}"/>
              </a:ext>
            </a:extLst>
          </p:cNvPr>
          <p:cNvSpPr txBox="1"/>
          <p:nvPr/>
        </p:nvSpPr>
        <p:spPr>
          <a:xfrm>
            <a:off x="5994400" y="5562600"/>
            <a:ext cx="3759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CrÃ©er le tenant, les comptes, les accÃ¨s et les premiÃ¨res donnÃ©es salariÃ©s.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733DAC59-873E-9CFA-C7BB-52C3A0393AE0}"/>
              </a:ext>
            </a:extLst>
          </p:cNvPr>
          <p:cNvSpPr/>
          <p:nvPr/>
        </p:nvSpPr>
        <p:spPr>
          <a:xfrm>
            <a:off x="10541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6487154-4D16-C7F5-32EC-21D8A46C5C81}"/>
              </a:ext>
            </a:extLst>
          </p:cNvPr>
          <p:cNvSpPr txBox="1"/>
          <p:nvPr/>
        </p:nvSpPr>
        <p:spPr>
          <a:xfrm>
            <a:off x="10820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3. Pilote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EA490D7-4FF2-4D05-1448-A462D1984C96}"/>
              </a:ext>
            </a:extLst>
          </p:cNvPr>
          <p:cNvSpPr txBox="1"/>
          <p:nvPr/>
        </p:nvSpPr>
        <p:spPr>
          <a:xfrm>
            <a:off x="10820400" y="5562600"/>
            <a:ext cx="3759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Tester pendant 30 jours, mesurer les gains, corriger les irritants puis Ã©largir le pÃ©rimÃ¨tre.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CD9644-4B45-1979-4D1A-A2B8131B6E9C}"/>
              </a:ext>
            </a:extLst>
          </p:cNvPr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EAF0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78BF1D0-3245-8BDD-849A-5AEFF490F940}"/>
              </a:ext>
            </a:extLst>
          </p:cNvPr>
          <p:cNvSpPr txBox="1"/>
          <p:nvPr/>
        </p:nvSpPr>
        <p:spPr>
          <a:xfrm>
            <a:off x="889000" y="8839200"/>
            <a:ext cx="533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5F6E84"/>
                </a:solidFill>
                <a:latin typeface="Aptos" panose="020B0004020202020204" pitchFamily="34" charset="0"/>
              </a:rPr>
              <a:t>PrÃ©sentation produit - WorkRH</a:t>
            </a:r>
          </a:p>
        </p:txBody>
      </p:sp>
    </p:spTree>
    <p:extLst>
      <p:ext uri="{BB962C8B-B14F-4D97-AF65-F5344CB8AC3E}">
        <p14:creationId xmlns:p14="http://schemas.microsoft.com/office/powerpoint/2010/main" val="2920221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2FEB2E-D08F-DA0E-6AC8-1EFF04B08A49}"/>
              </a:ext>
            </a:extLst>
          </p:cNvPr>
          <p:cNvSpPr/>
          <p:nvPr/>
        </p:nvSpPr>
        <p:spPr>
          <a:xfrm>
            <a:off x="0" y="0"/>
            <a:ext cx="16256000" cy="1117600"/>
          </a:xfrm>
          <a:prstGeom prst="rect">
            <a:avLst/>
          </a:prstGeom>
          <a:solidFill>
            <a:srgbClr val="1453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1A22D1A-B05F-E0F3-6BBB-D65B627EA654}"/>
              </a:ext>
            </a:extLst>
          </p:cNvPr>
          <p:cNvSpPr txBox="1"/>
          <p:nvPr/>
        </p:nvSpPr>
        <p:spPr>
          <a:xfrm>
            <a:off x="660400" y="317500"/>
            <a:ext cx="3048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>
                <a:solidFill>
                  <a:srgbClr val="FFFFFF"/>
                </a:solidFill>
                <a:latin typeface="Aptos" panose="020B0004020202020204" pitchFamily="34" charset="0"/>
              </a:rPr>
              <a:t>WorkRH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1302AC1-4768-0D67-048B-7CFCC489F26D}"/>
              </a:ext>
            </a:extLst>
          </p:cNvPr>
          <p:cNvSpPr/>
          <p:nvPr/>
        </p:nvSpPr>
        <p:spPr>
          <a:xfrm>
            <a:off x="12128500" y="355600"/>
            <a:ext cx="3302000" cy="381000"/>
          </a:xfrm>
          <a:prstGeom prst="roundRect">
            <a:avLst/>
          </a:prstGeom>
          <a:solidFill>
            <a:srgbClr val="E8F6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>
                <a:solidFill>
                  <a:srgbClr val="145378"/>
                </a:solidFill>
                <a:latin typeface="Aptos" panose="020B0004020202020204" pitchFamily="34" charset="0"/>
              </a:rPr>
              <a:t>Prochaine Ã©tape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18871AC-E53B-84BE-639A-7E107E58CCFA}"/>
              </a:ext>
            </a:extLst>
          </p:cNvPr>
          <p:cNvSpPr txBox="1"/>
          <p:nvPr/>
        </p:nvSpPr>
        <p:spPr>
          <a:xfrm>
            <a:off x="889000" y="1651000"/>
            <a:ext cx="10414000" cy="53860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3500" b="1">
                <a:solidFill>
                  <a:srgbClr val="12223A"/>
                </a:solidFill>
                <a:latin typeface="Aptos" panose="020B0004020202020204" pitchFamily="34" charset="0"/>
              </a:rPr>
              <a:t>Proposer un pilote de 30 jours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9E6AFE1-F29B-7389-286C-1CBD63F4DE17}"/>
              </a:ext>
            </a:extLst>
          </p:cNvPr>
          <p:cNvSpPr txBox="1"/>
          <p:nvPr/>
        </p:nvSpPr>
        <p:spPr>
          <a:xfrm>
            <a:off x="914400" y="3073400"/>
            <a:ext cx="9906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700">
                <a:solidFill>
                  <a:srgbClr val="536279"/>
                </a:solidFill>
                <a:latin typeface="Aptos" panose="020B0004020202020204" pitchFamily="34" charset="0"/>
              </a:rPr>
              <a:t>La meilleure maniÃ¨re de vendre WorkRH est de faire tester le workflow sur des cas rÃ©els : une absence, un arrÃªt maladie, un justificatif et une validation RH.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0274AE1-B348-7AD0-3325-72B32371F226}"/>
              </a:ext>
            </a:extLst>
          </p:cNvPr>
          <p:cNvSpPr/>
          <p:nvPr/>
        </p:nvSpPr>
        <p:spPr>
          <a:xfrm>
            <a:off x="889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A44CFF7-C154-40DD-B422-07AA3BF56372}"/>
              </a:ext>
            </a:extLst>
          </p:cNvPr>
          <p:cNvSpPr txBox="1"/>
          <p:nvPr/>
        </p:nvSpPr>
        <p:spPr>
          <a:xfrm>
            <a:off x="1168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DÃ©mo courte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C15C01B-7C67-C36F-5F2E-F4112719A2A0}"/>
              </a:ext>
            </a:extLst>
          </p:cNvPr>
          <p:cNvSpPr txBox="1"/>
          <p:nvPr/>
        </p:nvSpPr>
        <p:spPr>
          <a:xfrm>
            <a:off x="1168400" y="5562600"/>
            <a:ext cx="3759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Montrer le parcours salariÃ©, le justificatif, le dashboard RH et le tÃ©lÃ©chargement du document.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2BD5EDA-59EE-267B-C60D-D37D9C30A861}"/>
              </a:ext>
            </a:extLst>
          </p:cNvPr>
          <p:cNvSpPr/>
          <p:nvPr/>
        </p:nvSpPr>
        <p:spPr>
          <a:xfrm>
            <a:off x="5715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59BE31A-28A3-40CA-ADBF-EDF97C3B2D2C}"/>
              </a:ext>
            </a:extLst>
          </p:cNvPr>
          <p:cNvSpPr txBox="1"/>
          <p:nvPr/>
        </p:nvSpPr>
        <p:spPr>
          <a:xfrm>
            <a:off x="5994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Pilote ciblÃ©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C59B177-618B-4568-474E-6AB41E47F441}"/>
              </a:ext>
            </a:extLst>
          </p:cNvPr>
          <p:cNvSpPr txBox="1"/>
          <p:nvPr/>
        </p:nvSpPr>
        <p:spPr>
          <a:xfrm>
            <a:off x="5994400" y="5562600"/>
            <a:ext cx="3759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DÃ©marrer avec 5 Ã  20 salariÃ©s et une personne RH rÃ©fÃ©rente.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E7D37210-7271-FD8F-BFBD-0E91A304DF7C}"/>
              </a:ext>
            </a:extLst>
          </p:cNvPr>
          <p:cNvSpPr/>
          <p:nvPr/>
        </p:nvSpPr>
        <p:spPr>
          <a:xfrm>
            <a:off x="10541000" y="4826000"/>
            <a:ext cx="4318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FCDCC2-512E-C92F-1E07-A980BD74DE6B}"/>
              </a:ext>
            </a:extLst>
          </p:cNvPr>
          <p:cNvSpPr txBox="1"/>
          <p:nvPr/>
        </p:nvSpPr>
        <p:spPr>
          <a:xfrm>
            <a:off x="10820400" y="50546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b="1">
                <a:solidFill>
                  <a:srgbClr val="162846"/>
                </a:solidFill>
                <a:latin typeface="Aptos" panose="020B0004020202020204" pitchFamily="34" charset="0"/>
              </a:rPr>
              <a:t>DÃ©cision factuelle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8031D7F-C522-0774-CB68-D3DDA46A05B3}"/>
              </a:ext>
            </a:extLst>
          </p:cNvPr>
          <p:cNvSpPr txBox="1"/>
          <p:nvPr/>
        </p:nvSpPr>
        <p:spPr>
          <a:xfrm>
            <a:off x="10820400" y="5562600"/>
            <a:ext cx="3759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200">
                <a:solidFill>
                  <a:srgbClr val="4E5C70"/>
                </a:solidFill>
                <a:latin typeface="Aptos" panose="020B0004020202020204" pitchFamily="34" charset="0"/>
              </a:rPr>
              <a:t>Si le produit rÃ©duit les relances et clarifie les dossiers, le passage payant devient naturel.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0A9775-7D64-6868-45E1-502181C35B21}"/>
              </a:ext>
            </a:extLst>
          </p:cNvPr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EAF0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92F9C4E-DC76-A4A8-8B8D-14FB90EB1F2E}"/>
              </a:ext>
            </a:extLst>
          </p:cNvPr>
          <p:cNvSpPr txBox="1"/>
          <p:nvPr/>
        </p:nvSpPr>
        <p:spPr>
          <a:xfrm>
            <a:off x="889000" y="8839200"/>
            <a:ext cx="533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5F6E84"/>
                </a:solidFill>
                <a:latin typeface="Aptos" panose="020B0004020202020204" pitchFamily="34" charset="0"/>
              </a:rPr>
              <a:t>PrÃ©sentation produit - WorkRH</a:t>
            </a:r>
          </a:p>
        </p:txBody>
      </p:sp>
    </p:spTree>
    <p:extLst>
      <p:ext uri="{BB962C8B-B14F-4D97-AF65-F5344CB8AC3E}">
        <p14:creationId xmlns:p14="http://schemas.microsoft.com/office/powerpoint/2010/main" val="1781846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1133</Words>
  <Application>Microsoft Office PowerPoint</Application>
  <PresentationFormat>Personnalisé</PresentationFormat>
  <Paragraphs>99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irene coubel</dc:creator>
  <cp:lastModifiedBy>irene coubel</cp:lastModifiedBy>
  <cp:revision>1</cp:revision>
  <dcterms:created xsi:type="dcterms:W3CDTF">2026-05-10T15:30:54Z</dcterms:created>
  <dcterms:modified xsi:type="dcterms:W3CDTF">2026-05-10T15:30:54Z</dcterms:modified>
</cp:coreProperties>
</file>